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7399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78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975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64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6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82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95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7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25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59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0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FEE37966-6DA2-4954-AF07-38AB34FE5FE7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ED25C44-2517-467B-B94F-F08E1BCE9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1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E16E3-934B-CF72-A296-6BB23D72BF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Интеллектуальная система оценки недвижимости на базе </a:t>
            </a:r>
            <a:r>
              <a:rPr lang="ru-RU" dirty="0" err="1"/>
              <a:t>Gradient</a:t>
            </a:r>
            <a:r>
              <a:rPr lang="ru-RU" dirty="0"/>
              <a:t> </a:t>
            </a:r>
            <a:r>
              <a:rPr lang="ru-RU" dirty="0" err="1"/>
              <a:t>Boosting</a:t>
            </a:r>
            <a:r>
              <a:rPr lang="ru-RU" dirty="0"/>
              <a:t>.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DB6E1D-9441-DB6D-CC10-A9B62BDB21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Разработка предиктивной модели по методологии CRISP-DM.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Автор: Любимый Д.О., МИК22. Стек: </a:t>
            </a:r>
            <a:r>
              <a:rPr lang="en-US" dirty="0"/>
              <a:t>Python, Scikit-learn, React.</a:t>
            </a:r>
          </a:p>
        </p:txBody>
      </p:sp>
    </p:spTree>
    <p:extLst>
      <p:ext uri="{BB962C8B-B14F-4D97-AF65-F5344CB8AC3E}">
        <p14:creationId xmlns:p14="http://schemas.microsoft.com/office/powerpoint/2010/main" val="2842180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7BA86-FEA1-D28F-755F-7F6A7DA6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 проекта.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951213-9988-F487-0B9D-CEFD2A056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Автоматизация оценки жилья в Калифорнии.</a:t>
            </a:r>
          </a:p>
          <a:p>
            <a:r>
              <a:rPr lang="ru-RU" dirty="0"/>
              <a:t>Переход от субъективной экспертизы к объективным данным.</a:t>
            </a:r>
          </a:p>
          <a:p>
            <a:r>
              <a:rPr lang="ru-RU" dirty="0"/>
              <a:t>Критерий успеха: точность предсказания R</a:t>
            </a:r>
            <a:r>
              <a:rPr lang="en-US" dirty="0"/>
              <a:t>^</a:t>
            </a:r>
            <a:r>
              <a:rPr lang="ru-RU" dirty="0"/>
              <a:t>2 выше 0.80.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21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02CCC-A827-1C6D-F154-CB945D77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признакового пространства.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8E200C-3E69-08EF-8532-31DC21507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925053"/>
            <a:ext cx="9692639" cy="4255084"/>
          </a:xfrm>
        </p:spPr>
        <p:txBody>
          <a:bodyPr/>
          <a:lstStyle/>
          <a:p>
            <a:r>
              <a:rPr lang="ru-RU" dirty="0"/>
              <a:t>Датасет: 20,640 записей, 9 ключевых признаков.</a:t>
            </a:r>
            <a:endParaRPr lang="en-US" dirty="0"/>
          </a:p>
          <a:p>
            <a:r>
              <a:rPr lang="ru-RU" dirty="0"/>
              <a:t>Ключевые факторы: Медианный доход (</a:t>
            </a:r>
            <a:r>
              <a:rPr lang="ru-RU" dirty="0" err="1"/>
              <a:t>MedInc</a:t>
            </a:r>
            <a:r>
              <a:rPr lang="ru-RU" dirty="0"/>
              <a:t>), Возраст дома (</a:t>
            </a:r>
            <a:r>
              <a:rPr lang="ru-RU" dirty="0" err="1"/>
              <a:t>HouseAge</a:t>
            </a:r>
            <a:r>
              <a:rPr lang="ru-RU" dirty="0"/>
              <a:t>), Гео-координаты (</a:t>
            </a:r>
            <a:r>
              <a:rPr lang="ru-RU" dirty="0" err="1"/>
              <a:t>Lat</a:t>
            </a:r>
            <a:r>
              <a:rPr lang="ru-RU" dirty="0"/>
              <a:t>/</a:t>
            </a:r>
            <a:r>
              <a:rPr lang="ru-RU" dirty="0" err="1"/>
              <a:t>Lon</a:t>
            </a:r>
            <a:r>
              <a:rPr lang="ru-RU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974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12440A3A-BC2E-38AC-0713-9F18825F8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4338" y="1691322"/>
            <a:ext cx="6995347" cy="516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44C91-6BA0-15B1-DE8E-70D547781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Глубокий анализ структуры входных признаков.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C8D40E-9469-274A-01EE-33143E893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3" y="1828800"/>
            <a:ext cx="3582844" cy="4844716"/>
          </a:xfrm>
        </p:spPr>
        <p:txBody>
          <a:bodyPr/>
          <a:lstStyle/>
          <a:p>
            <a:r>
              <a:rPr lang="ru-RU" dirty="0"/>
              <a:t>Наблюдается сильная правосторонняя асимметрия признаков (</a:t>
            </a:r>
            <a:r>
              <a:rPr lang="ru-RU" dirty="0" err="1"/>
              <a:t>AveRooms</a:t>
            </a:r>
            <a:r>
              <a:rPr lang="ru-RU" dirty="0"/>
              <a:t>, </a:t>
            </a:r>
            <a:r>
              <a:rPr lang="ru-RU" dirty="0" err="1"/>
              <a:t>Population</a:t>
            </a:r>
            <a:r>
              <a:rPr lang="ru-RU" dirty="0"/>
              <a:t>).</a:t>
            </a:r>
          </a:p>
          <a:p>
            <a:r>
              <a:rPr lang="ru-RU" dirty="0"/>
              <a:t>Вывод: Обязательно применение масштабирования (</a:t>
            </a:r>
            <a:r>
              <a:rPr lang="ru-RU" dirty="0" err="1"/>
              <a:t>StandardScaler</a:t>
            </a:r>
            <a:r>
              <a:rPr lang="ru-RU" dirty="0"/>
              <a:t>) для корректной работы алгоритмов.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334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7D717-9085-9596-01FD-3A6ED7D6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</a:t>
            </a:r>
            <a:r>
              <a:rPr lang="en-US" dirty="0"/>
              <a:t>Pipeline </a:t>
            </a:r>
            <a:r>
              <a:rPr lang="ru-RU" dirty="0"/>
              <a:t>и обучение.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CE625C-80B2-9FCA-22EA-FBDA0728F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синтетических признаков (например, </a:t>
            </a:r>
            <a:r>
              <a:rPr lang="ru-RU" dirty="0" err="1"/>
              <a:t>Bedrooms_Ratio</a:t>
            </a:r>
            <a:r>
              <a:rPr lang="ru-RU" dirty="0"/>
              <a:t>) для повышения точности.</a:t>
            </a:r>
          </a:p>
          <a:p>
            <a:r>
              <a:rPr lang="ru-RU" dirty="0"/>
              <a:t>Алгоритм: </a:t>
            </a:r>
            <a:r>
              <a:rPr lang="ru-RU" dirty="0" err="1"/>
              <a:t>Gradient</a:t>
            </a:r>
            <a:r>
              <a:rPr lang="ru-RU" dirty="0"/>
              <a:t> </a:t>
            </a:r>
            <a:r>
              <a:rPr lang="ru-RU" dirty="0" err="1"/>
              <a:t>Boosting</a:t>
            </a:r>
            <a:r>
              <a:rPr lang="ru-RU" dirty="0"/>
              <a:t> </a:t>
            </a:r>
            <a:r>
              <a:rPr lang="ru-RU" dirty="0" err="1"/>
              <a:t>Regressor</a:t>
            </a:r>
            <a:r>
              <a:rPr lang="ru-RU" dirty="0"/>
              <a:t> (ансамбль решающих деревьев).</a:t>
            </a:r>
          </a:p>
          <a:p>
            <a:r>
              <a:rPr lang="ru-RU" dirty="0"/>
              <a:t>Применение </a:t>
            </a:r>
            <a:r>
              <a:rPr lang="ru-RU" dirty="0" err="1"/>
              <a:t>Pipeline</a:t>
            </a:r>
            <a:r>
              <a:rPr lang="ru-RU" dirty="0"/>
              <a:t> для объединения масштабирования и модели в единый объект (защита от утечки данных).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956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2B3DA-AB51-D9E7-4856-283F5F79D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лучших настроек модели.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E38B75-2819-1993-CCFC-1C88AC51B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Использование инструмента </a:t>
            </a:r>
            <a:r>
              <a:rPr lang="ru-RU" dirty="0" err="1"/>
              <a:t>GridSearchCV</a:t>
            </a:r>
            <a:r>
              <a:rPr lang="ru-RU" dirty="0"/>
              <a:t> для перебора комбинаций </a:t>
            </a:r>
            <a:r>
              <a:rPr lang="ru-RU" dirty="0" err="1"/>
              <a:t>гиперпараметров</a:t>
            </a:r>
            <a:r>
              <a:rPr lang="ru-RU" dirty="0"/>
              <a:t>.</a:t>
            </a:r>
          </a:p>
          <a:p>
            <a:r>
              <a:rPr lang="ru-RU" dirty="0"/>
              <a:t>Применение 5-Fold Cross-</a:t>
            </a:r>
            <a:r>
              <a:rPr lang="ru-RU" dirty="0" err="1"/>
              <a:t>Validation</a:t>
            </a:r>
            <a:r>
              <a:rPr lang="ru-RU" dirty="0"/>
              <a:t>: гарантия устойчивости модели на различных выборках.</a:t>
            </a:r>
          </a:p>
          <a:p>
            <a:r>
              <a:rPr lang="ru-RU" dirty="0"/>
              <a:t>Результат: Найдены оптимальные значения </a:t>
            </a:r>
            <a:r>
              <a:rPr lang="ru-RU" dirty="0" err="1"/>
              <a:t>learning_rate</a:t>
            </a:r>
            <a:r>
              <a:rPr lang="ru-RU" dirty="0"/>
              <a:t> и </a:t>
            </a:r>
            <a:r>
              <a:rPr lang="ru-RU" dirty="0" err="1"/>
              <a:t>n_estimators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260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33FD63-3559-BA16-E6BE-DA4C10789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предсказанных цен с реальными.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8FFDB6-8E17-B023-8CD2-4F46AABF7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5196891" cy="4663440"/>
          </a:xfrm>
        </p:spPr>
        <p:txBody>
          <a:bodyPr/>
          <a:lstStyle/>
          <a:p>
            <a:r>
              <a:rPr lang="ru-RU" dirty="0"/>
              <a:t>Метрика R^2: ~0.82 (высокая доля объясненной дисперсии).</a:t>
            </a:r>
          </a:p>
          <a:p>
            <a:r>
              <a:rPr lang="ru-RU" dirty="0"/>
              <a:t>Анализ графика: Точки плотно прилегают к диагональной линии ($y=x$), что подтверждает высокую точность модели, особенно в среднем ценовом сегменте.</a:t>
            </a: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255CDEA-7114-787E-5DBC-B043B12B4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87123"/>
            <a:ext cx="5196891" cy="5370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7113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>
            <a:extLst>
              <a:ext uri="{FF2B5EF4-FFF2-40B4-BE49-F238E27FC236}">
                <a16:creationId xmlns:a16="http://schemas.microsoft.com/office/drawing/2014/main" id="{2D427F7E-60EB-1A45-2316-520D2084F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093" y="1691322"/>
            <a:ext cx="6341645" cy="3532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196E50-9872-385F-AEA3-F5BE50B3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Изучение распределения остатков.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153186-A6A5-FA45-AAFE-6C0DA880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4080149" cy="4351337"/>
          </a:xfrm>
        </p:spPr>
        <p:txBody>
          <a:bodyPr/>
          <a:lstStyle/>
          <a:p>
            <a:r>
              <a:rPr lang="ru-RU" dirty="0"/>
              <a:t>Остатки — это разница между реальной и предсказанной ценой (y{</a:t>
            </a:r>
            <a:r>
              <a:rPr lang="ru-RU" dirty="0" err="1"/>
              <a:t>true</a:t>
            </a:r>
            <a:r>
              <a:rPr lang="ru-RU" dirty="0"/>
              <a:t>} - y{</a:t>
            </a:r>
            <a:r>
              <a:rPr lang="ru-RU" dirty="0" err="1"/>
              <a:t>pred</a:t>
            </a:r>
            <a:r>
              <a:rPr lang="ru-RU" dirty="0"/>
              <a:t>}).</a:t>
            </a:r>
          </a:p>
          <a:p>
            <a:r>
              <a:rPr lang="ru-RU" dirty="0"/>
              <a:t>Анализ графика: Распределение остатков центрировано в нуле и близко к нормальному (колоколообразная форма).</a:t>
            </a:r>
          </a:p>
          <a:p>
            <a:r>
              <a:rPr lang="ru-RU" dirty="0"/>
              <a:t>Модель не имеет систематических смещений; оставшаяся ошибка является случайным шумом.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772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A741A-45B5-88A2-302D-3C0DD298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 и перспективы.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BA4BDB-23ED-3D50-9955-F4B4DDFB0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Разработана устойчивая система с глубокой предобработкой данных по стандарту CRISP-DM.</a:t>
            </a:r>
          </a:p>
          <a:p>
            <a:r>
              <a:rPr lang="ru-RU" dirty="0"/>
              <a:t>Итоговая модель готова к промышленному использованию.</a:t>
            </a:r>
          </a:p>
          <a:p>
            <a:r>
              <a:rPr lang="ru-RU" dirty="0"/>
              <a:t>Перспективы: Внедрение нейросетевых архитектур (например, </a:t>
            </a:r>
            <a:r>
              <a:rPr lang="ru-RU" dirty="0" err="1"/>
              <a:t>TabNet</a:t>
            </a:r>
            <a:r>
              <a:rPr lang="ru-RU" dirty="0"/>
              <a:t>) для еще большего повышения точности.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73708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17</TotalTime>
  <Words>344</Words>
  <Application>Microsoft Office PowerPoint</Application>
  <PresentationFormat>Широкоэкранный</PresentationFormat>
  <Paragraphs>31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Century Schoolbook</vt:lpstr>
      <vt:lpstr>Wingdings 2</vt:lpstr>
      <vt:lpstr>Вид</vt:lpstr>
      <vt:lpstr>Интеллектуальная система оценки недвижимости на базе Gradient Boosting.</vt:lpstr>
      <vt:lpstr>Цели и задачи проекта.</vt:lpstr>
      <vt:lpstr>Обзор признакового пространства.</vt:lpstr>
      <vt:lpstr>Глубокий анализ структуры входных признаков.</vt:lpstr>
      <vt:lpstr>Построение Pipeline и обучение.</vt:lpstr>
      <vt:lpstr>Поиск лучших настроек модели.</vt:lpstr>
      <vt:lpstr>Сравнение предсказанных цен с реальными.</vt:lpstr>
      <vt:lpstr>Изучение распределения остатков.</vt:lpstr>
      <vt:lpstr>Итоги и перспективы.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 L</dc:creator>
  <cp:lastModifiedBy>D L</cp:lastModifiedBy>
  <cp:revision>1</cp:revision>
  <dcterms:created xsi:type="dcterms:W3CDTF">2026-03-29T16:25:40Z</dcterms:created>
  <dcterms:modified xsi:type="dcterms:W3CDTF">2026-03-29T16:42:42Z</dcterms:modified>
</cp:coreProperties>
</file>